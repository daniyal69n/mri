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323" r:id="rId8"/>
    <p:sldId id="324" r:id="rId9"/>
    <p:sldId id="281" r:id="rId10"/>
    <p:sldId id="282" r:id="rId11"/>
    <p:sldId id="314" r:id="rId12"/>
    <p:sldId id="315" r:id="rId13"/>
    <p:sldId id="317" r:id="rId14"/>
    <p:sldId id="318" r:id="rId15"/>
    <p:sldId id="319" r:id="rId16"/>
    <p:sldId id="321" r:id="rId17"/>
    <p:sldId id="322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59" d="100"/>
          <a:sy n="59" d="100"/>
        </p:scale>
        <p:origin x="964" y="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862" y="205273"/>
            <a:ext cx="6699380" cy="5197151"/>
          </a:xfrm>
        </p:spPr>
        <p:txBody>
          <a:bodyPr anchor="ctr"/>
          <a:lstStyle/>
          <a:p>
            <a: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Volumetric Analysis of </a:t>
            </a:r>
            <a:b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Constituents Of Brain Soft Tissue</a:t>
            </a:r>
            <a:b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solidFill>
                  <a:srgbClr val="7286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Presented by </a:t>
            </a:r>
            <a:b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Daniyal Ahmed Gul (BCS223030)</a:t>
            </a:r>
            <a:b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Muhammad Hasan Nauman (BCS223033)</a:t>
            </a:r>
            <a:b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</a:br>
            <a:r>
              <a:rPr lang="en-US" sz="1800" b="0" dirty="0">
                <a:solidFill>
                  <a:srgbClr val="272525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Hadia Khan (BCS223216)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CA2A8-7AB4-EFA4-5D86-2F807A4F1567}"/>
              </a:ext>
            </a:extLst>
          </p:cNvPr>
          <p:cNvSpPr txBox="1"/>
          <p:nvPr/>
        </p:nvSpPr>
        <p:spPr>
          <a:xfrm>
            <a:off x="3293806" y="5402424"/>
            <a:ext cx="6167436" cy="1348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Supervisor: Dr Masroor Ahmed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500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Source Sans 3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ts val="25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Source Sans 3" pitchFamily="34" charset="-122"/>
                <a:cs typeface="Times New Roman" panose="02020603050405020304" pitchFamily="18" charset="0"/>
              </a:rPr>
              <a:t>Department of Computer Sciences, Capital University of Science &amp; Technology, Islamabad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8" y="265471"/>
            <a:ext cx="7285702" cy="100289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-Problem &amp;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7" y="1366684"/>
            <a:ext cx="7594716" cy="534874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segmentation of brain tissues (Gray Matter, White Matter, CSF) is time-consuming, prone to human error, and computationally expensive.  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Significance: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Volumetric changes are key indicators for Alzheimer’s, Multiple Sclerosis, and brain tumors.  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automated, data-driven framework using 2D MRI slices to estimate 3D tissue volumes with high precision.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0995" y="0"/>
            <a:ext cx="8701548" cy="112087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52926-08A6-EA11-7FDB-22FFEBD7867E}"/>
              </a:ext>
            </a:extLst>
          </p:cNvPr>
          <p:cNvSpPr txBox="1"/>
          <p:nvPr/>
        </p:nvSpPr>
        <p:spPr>
          <a:xfrm>
            <a:off x="1039762" y="1413388"/>
            <a:ext cx="900634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public repositories like Kaggle, TCIA, and OASIS.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data via Python (resizing, denoising, skull stripping).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Engine: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feature extraction (Texture, Shape, and CNN features) followed by PCA for reduction.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Volumetric reports and tissue classification using K-Means and ML models. 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DAF5-9F37-22F8-065D-BCEFEEDC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94" y="127518"/>
            <a:ext cx="5723586" cy="625151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92D1FE-CE62-1003-1C1C-497EB200D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315814"/>
              </p:ext>
            </p:extLst>
          </p:nvPr>
        </p:nvGraphicFramePr>
        <p:xfrm>
          <a:off x="587827" y="864369"/>
          <a:ext cx="9974424" cy="561889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93606">
                  <a:extLst>
                    <a:ext uri="{9D8B030D-6E8A-4147-A177-3AD203B41FA5}">
                      <a16:colId xmlns:a16="http://schemas.microsoft.com/office/drawing/2014/main" val="996140648"/>
                    </a:ext>
                  </a:extLst>
                </a:gridCol>
                <a:gridCol w="4718959">
                  <a:extLst>
                    <a:ext uri="{9D8B030D-6E8A-4147-A177-3AD203B41FA5}">
                      <a16:colId xmlns:a16="http://schemas.microsoft.com/office/drawing/2014/main" val="1877024606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210513811"/>
                    </a:ext>
                  </a:extLst>
                </a:gridCol>
                <a:gridCol w="1324945">
                  <a:extLst>
                    <a:ext uri="{9D8B030D-6E8A-4147-A177-3AD203B41FA5}">
                      <a16:colId xmlns:a16="http://schemas.microsoft.com/office/drawing/2014/main" val="8790366"/>
                    </a:ext>
                  </a:extLst>
                </a:gridCol>
              </a:tblGrid>
              <a:tr h="599612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38910"/>
                  </a:ext>
                </a:extLst>
              </a:tr>
              <a:tr h="51850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Researcher registers and logs into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793367"/>
                  </a:ext>
                </a:extLst>
              </a:tr>
              <a:tr h="624569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Researcher uploads MRI images to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634382"/>
                  </a:ext>
                </a:extLst>
              </a:tr>
              <a:tr h="624569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preprocessing pipeline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765860"/>
                  </a:ext>
                </a:extLst>
              </a:tr>
              <a:tr h="624569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extracts </a:t>
                      </a:r>
                      <a:r>
                        <a:rPr lang="en-US"/>
                        <a:t>texture features and </a:t>
                      </a:r>
                      <a:r>
                        <a:rPr lang="en-US" dirty="0"/>
                        <a:t>shape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3970"/>
                  </a:ext>
                </a:extLst>
              </a:tr>
              <a:tr h="624569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generates deep CNN features(</a:t>
                      </a:r>
                      <a:r>
                        <a:rPr lang="en-US" dirty="0" err="1"/>
                        <a:t>MobileNet</a:t>
                      </a:r>
                      <a:r>
                        <a:rPr lang="en-US" dirty="0"/>
                        <a:t>/EfficientNet-B0)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099342"/>
                  </a:ext>
                </a:extLst>
              </a:tr>
              <a:tr h="624569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provides password recovery 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Intermediate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23945"/>
                  </a:ext>
                </a:extLst>
              </a:tr>
              <a:tr h="518502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logs out from the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147792"/>
                  </a:ext>
                </a:extLst>
              </a:tr>
              <a:tr h="781875">
                <a:tc>
                  <a:txBody>
                    <a:bodyPr/>
                    <a:lstStyle/>
                    <a:p>
                      <a:r>
                        <a:rPr lang="en-US" dirty="0"/>
                        <a:t>6-12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Remaining Tasks(</a:t>
                      </a:r>
                      <a:r>
                        <a:rPr lang="en-US" dirty="0" err="1"/>
                        <a:t>PCA,Model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Training,Volumetric</a:t>
                      </a:r>
                      <a:r>
                        <a:rPr lang="en-US" dirty="0"/>
                        <a:t> Ratios)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424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99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D0F4-6039-E9D4-EAEF-FD57C4623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9DFC-30E3-0CCF-EC9E-DD383643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14" y="358896"/>
            <a:ext cx="5723586" cy="625151"/>
          </a:xfrm>
        </p:spPr>
        <p:txBody>
          <a:bodyPr/>
          <a:lstStyle/>
          <a:p>
            <a:pPr lvl="0" eaLnBrk="0" fontAlgn="base" hangingPunct="0">
              <a:spcAft>
                <a:spcPct val="0"/>
              </a:spcAft>
            </a:pPr>
            <a:r>
              <a:rPr lang="en-US" altLang="en-US" sz="2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Coding Standards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6B28521-1F20-850E-A5A8-BA4AE3CB7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8" y="1211243"/>
            <a:ext cx="105700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a readable, maintainable, and industry-aligned codebase for research reproducibility.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Indentation Rules: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 spaces per level.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 spaces per level for standard JS/TS practice.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Declarations &amp; Typing: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Explicit variable declarations and Python type hints.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Strict TypeScript typing for all API responses and data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Naming Conventions: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Snake_case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Python functions and variables (e.g.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perform_skull_stripping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CamelCase: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Frontend functions and variables (e.g.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processedImage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PascalCase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Classes and React Components.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20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27588"/>
            <a:ext cx="10441859" cy="717754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 &amp;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025445"/>
            <a:ext cx="10668000" cy="3805083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Windows-based environment.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and Next.js for a modern, component-based UI.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for heavy-duty MRI image processing (resizing, normalization, etc.).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with Mongoose for user/patient records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554" y="127902"/>
            <a:ext cx="6782892" cy="722672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- LANDING PAGE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8301" y="4119716"/>
            <a:ext cx="8789987" cy="2281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entry points for researchers and new users.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platform capabilities: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Preprocessing, Volumetrics, and Classification. </a:t>
            </a:r>
          </a:p>
        </p:txBody>
      </p:sp>
      <p:sp>
        <p:nvSpPr>
          <p:cNvPr id="3" name="Slide Number Placeholder 22">
            <a:extLst>
              <a:ext uri="{FF2B5EF4-FFF2-40B4-BE49-F238E27FC236}">
                <a16:creationId xmlns:a16="http://schemas.microsoft.com/office/drawing/2014/main" id="{05ACDA5F-5121-3901-DB9A-7DD607843241}"/>
              </a:ext>
            </a:extLst>
          </p:cNvPr>
          <p:cNvSpPr txBox="1">
            <a:spLocks/>
          </p:cNvSpPr>
          <p:nvPr/>
        </p:nvSpPr>
        <p:spPr>
          <a:xfrm>
            <a:off x="2885015" y="2039491"/>
            <a:ext cx="8789987" cy="228108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AF82F4-4F1E-E5B6-3F93-86C360C02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301" y="1100047"/>
            <a:ext cx="6591120" cy="275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036" y="145165"/>
            <a:ext cx="7668458" cy="617467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- DASHBOARD &amp; AUTH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67562" y="4254700"/>
            <a:ext cx="7043618" cy="230938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using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hashing.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"Quick Actions" for uploading images and generating reports.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total analyses and success rates.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145B0E4-E779-9B8D-2D26-05CCC31767E4}"/>
              </a:ext>
            </a:extLst>
          </p:cNvPr>
          <p:cNvSpPr txBox="1">
            <a:spLocks/>
          </p:cNvSpPr>
          <p:nvPr/>
        </p:nvSpPr>
        <p:spPr>
          <a:xfrm>
            <a:off x="3581036" y="1097000"/>
            <a:ext cx="7043618" cy="2037384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5AAF33-6CED-2ABC-61CA-72B31D718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371" y="943897"/>
            <a:ext cx="6858000" cy="283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6" y="344129"/>
            <a:ext cx="8465057" cy="658761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- MRI UPLOAD MODULE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8DECA3-D354-910E-EFAE-5FE0BAF9E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7824" y="4509846"/>
            <a:ext cx="7934632" cy="2047568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 MRI images to specific patient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multiple formats: JPG, PNG, DICOM, and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Backend processes images and saves them to a temporary server directory.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0185F6C-F752-B1C4-7668-4CA4DF2CB9EA}"/>
              </a:ext>
            </a:extLst>
          </p:cNvPr>
          <p:cNvSpPr txBox="1">
            <a:spLocks/>
          </p:cNvSpPr>
          <p:nvPr/>
        </p:nvSpPr>
        <p:spPr>
          <a:xfrm>
            <a:off x="595554" y="1611085"/>
            <a:ext cx="7934632" cy="2047568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83464" indent="-283464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3862F0-8337-650A-C948-E0C050240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" y="1445536"/>
            <a:ext cx="5736771" cy="26387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A1A8CE-C970-1E83-0304-685899702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441" y="1445536"/>
            <a:ext cx="5800702" cy="262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9054" y="170429"/>
            <a:ext cx="9836712" cy="817870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Preprocessing Implementation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6968" y="4156900"/>
            <a:ext cx="6984175" cy="2715626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fixed sequence of steps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Resizing: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all inputs to 256x256 pixels.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Grayscale Conversion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For intensity-based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Denoising: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artifacts while preserving edges.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Skull Stripping: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non-brain tissue (skull/scalp).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contrast for clearer tissue boundaries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CFCFC0-5ABD-D485-D7B1-2C4DFC616C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236"/>
          <a:stretch>
            <a:fillRect/>
          </a:stretch>
        </p:blipFill>
        <p:spPr>
          <a:xfrm>
            <a:off x="2575698" y="1246570"/>
            <a:ext cx="7572482" cy="271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147484"/>
            <a:ext cx="8384611" cy="65690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VISUALIZATION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377543" y="3184071"/>
            <a:ext cx="6903076" cy="317849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UI provides immediate confirmation once all 6 preprocessing steps are completed.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Metadata regarding applied steps is returned via API for user verification.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FD4EA-3517-E7FC-905C-6F1DE29A3A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28"/>
          <a:stretch>
            <a:fillRect/>
          </a:stretch>
        </p:blipFill>
        <p:spPr>
          <a:xfrm>
            <a:off x="145026" y="1143000"/>
            <a:ext cx="5232517" cy="408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76981"/>
            <a:ext cx="9879437" cy="924232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Testing Methodology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0FFFB8-6276-13B3-7B67-07F3AB884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0564" y="1927123"/>
            <a:ext cx="9882484" cy="412648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Black-Box Testing.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validate functional behavior (inputs/outputs) from the user’s perspective without analyzing internal code.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desktop system using a web browser to simulate real-world usage.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 of image uploads, execution of preprocessing, and UI stability. </a:t>
            </a:r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678426"/>
            <a:ext cx="9875463" cy="609600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Test Cases (Authentication &amp; Upload)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87A61C-6A44-A2BC-F106-B97C1B046E8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21491432"/>
              </p:ext>
            </p:extLst>
          </p:nvPr>
        </p:nvGraphicFramePr>
        <p:xfrm>
          <a:off x="1550987" y="2303462"/>
          <a:ext cx="9687284" cy="428571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21821">
                  <a:extLst>
                    <a:ext uri="{9D8B030D-6E8A-4147-A177-3AD203B41FA5}">
                      <a16:colId xmlns:a16="http://schemas.microsoft.com/office/drawing/2014/main" val="870081349"/>
                    </a:ext>
                  </a:extLst>
                </a:gridCol>
                <a:gridCol w="2762289">
                  <a:extLst>
                    <a:ext uri="{9D8B030D-6E8A-4147-A177-3AD203B41FA5}">
                      <a16:colId xmlns:a16="http://schemas.microsoft.com/office/drawing/2014/main" val="3777413483"/>
                    </a:ext>
                  </a:extLst>
                </a:gridCol>
                <a:gridCol w="2081353">
                  <a:extLst>
                    <a:ext uri="{9D8B030D-6E8A-4147-A177-3AD203B41FA5}">
                      <a16:colId xmlns:a16="http://schemas.microsoft.com/office/drawing/2014/main" val="307489930"/>
                    </a:ext>
                  </a:extLst>
                </a:gridCol>
                <a:gridCol w="2421821">
                  <a:extLst>
                    <a:ext uri="{9D8B030D-6E8A-4147-A177-3AD203B41FA5}">
                      <a16:colId xmlns:a16="http://schemas.microsoft.com/office/drawing/2014/main" val="1889085704"/>
                    </a:ext>
                  </a:extLst>
                </a:gridCol>
              </a:tblGrid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12951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Verify Sign-in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Valid Credentials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314746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Invalid Login Handling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Wrong Password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819931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MRI Image Upload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png</a:t>
                      </a:r>
                      <a:r>
                        <a:rPr lang="en-US" sz="2400" dirty="0"/>
                        <a:t> / .jpg file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870942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Invalid File Format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.pdf file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390810"/>
                  </a:ext>
                </a:extLst>
              </a:tr>
              <a:tr h="659948"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021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6916"/>
            <a:ext cx="10511627" cy="629265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Test Cases (Preprocessing &amp; UI)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6B55BF-4B2D-944A-4F6D-799DA61E093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57279944"/>
              </p:ext>
            </p:extLst>
          </p:nvPr>
        </p:nvGraphicFramePr>
        <p:xfrm>
          <a:off x="914400" y="2316162"/>
          <a:ext cx="10510836" cy="239349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177143">
                  <a:extLst>
                    <a:ext uri="{9D8B030D-6E8A-4147-A177-3AD203B41FA5}">
                      <a16:colId xmlns:a16="http://schemas.microsoft.com/office/drawing/2014/main" val="3137136895"/>
                    </a:ext>
                  </a:extLst>
                </a:gridCol>
                <a:gridCol w="3078275">
                  <a:extLst>
                    <a:ext uri="{9D8B030D-6E8A-4147-A177-3AD203B41FA5}">
                      <a16:colId xmlns:a16="http://schemas.microsoft.com/office/drawing/2014/main" val="4073874209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628117527"/>
                    </a:ext>
                  </a:extLst>
                </a:gridCol>
                <a:gridCol w="2627709">
                  <a:extLst>
                    <a:ext uri="{9D8B030D-6E8A-4147-A177-3AD203B41FA5}">
                      <a16:colId xmlns:a16="http://schemas.microsoft.com/office/drawing/2014/main" val="3118137114"/>
                    </a:ext>
                  </a:extLst>
                </a:gridCol>
              </a:tblGrid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Test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37611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Preprocessing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Resized, denoised, and skull-stripped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52386"/>
                  </a:ext>
                </a:extLst>
              </a:tr>
              <a:tr h="797830">
                <a:tc>
                  <a:txBody>
                    <a:bodyPr/>
                    <a:lstStyle/>
                    <a:p>
                      <a:r>
                        <a:rPr lang="en-US" dirty="0"/>
                        <a:t>TC-06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Output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processed data on UI without distortion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28807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5556514-4438-1736-8FAC-D6B6EAC2F13F}"/>
              </a:ext>
            </a:extLst>
          </p:cNvPr>
          <p:cNvSpPr txBox="1"/>
          <p:nvPr/>
        </p:nvSpPr>
        <p:spPr>
          <a:xfrm>
            <a:off x="914400" y="5319252"/>
            <a:ext cx="10618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initial 30% of the project (UI and Preprocessing) is stable and has passed all functional tests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{C7D20A79-9860-4015-A8ED-4101D417CC2E}TF8a9b5915-b8c7-461e-8cdd-693d48b5e32371f7b7e2_win32-4bf0b9a2ea37</Template>
  <TotalTime>2134</TotalTime>
  <Words>812</Words>
  <Application>Microsoft Office PowerPoint</Application>
  <PresentationFormat>Widescreen</PresentationFormat>
  <Paragraphs>148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Times New Roman</vt:lpstr>
      <vt:lpstr>Custom</vt:lpstr>
      <vt:lpstr>Investigating Volumetric Analysis of  Constituents Of Brain Soft Tissue  Presented by  Daniyal Ahmed Gul (BCS223030) Muhammad Hasan Nauman (BCS223033) Hadia Khan (BCS223216) </vt:lpstr>
      <vt:lpstr>Introduction -Problem &amp; Significance</vt:lpstr>
      <vt:lpstr>Introduction - Proposed Methodology</vt:lpstr>
      <vt:lpstr>Functional requirements</vt:lpstr>
      <vt:lpstr>Development Coding Standards</vt:lpstr>
      <vt:lpstr>Development Environment &amp; Stack</vt:lpstr>
      <vt:lpstr>USER INTERFACE - LANDING PAGE</vt:lpstr>
      <vt:lpstr>USER INTERFACE - DASHBOARD &amp; AUTH</vt:lpstr>
      <vt:lpstr>USER INTERFACE - MRI UPLOAD MODULE</vt:lpstr>
      <vt:lpstr>Backend Preprocessing Implementation</vt:lpstr>
      <vt:lpstr>PREPROCESSING VISUALIZATION</vt:lpstr>
      <vt:lpstr>Software Testing Methodology</vt:lpstr>
      <vt:lpstr>Key Test Cases (Authentication &amp; Upload)</vt:lpstr>
      <vt:lpstr>Key Test Cases (Preprocessing &amp; UI)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Hadia Khan</dc:creator>
  <cp:lastModifiedBy>BCS223030-DANIYAL AHMED GUL</cp:lastModifiedBy>
  <cp:revision>26</cp:revision>
  <dcterms:created xsi:type="dcterms:W3CDTF">2026-02-15T07:46:44Z</dcterms:created>
  <dcterms:modified xsi:type="dcterms:W3CDTF">2026-02-17T06:34:22Z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