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21"/>
  </p:notesMasterIdLst>
  <p:handoutMasterIdLst>
    <p:handoutMasterId r:id="rId22"/>
  </p:handoutMasterIdLst>
  <p:sldIdLst>
    <p:sldId id="312" r:id="rId5"/>
    <p:sldId id="304" r:id="rId6"/>
    <p:sldId id="307" r:id="rId7"/>
    <p:sldId id="323" r:id="rId8"/>
    <p:sldId id="328" r:id="rId9"/>
    <p:sldId id="282" r:id="rId10"/>
    <p:sldId id="314" r:id="rId11"/>
    <p:sldId id="327" r:id="rId12"/>
    <p:sldId id="321" r:id="rId13"/>
    <p:sldId id="322" r:id="rId14"/>
    <p:sldId id="315" r:id="rId15"/>
    <p:sldId id="317" r:id="rId16"/>
    <p:sldId id="318" r:id="rId17"/>
    <p:sldId id="325" r:id="rId18"/>
    <p:sldId id="326" r:id="rId19"/>
    <p:sldId id="297" r:id="rId20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napToObjects="1">
      <p:cViewPr>
        <p:scale>
          <a:sx n="66" d="100"/>
          <a:sy n="66" d="100"/>
        </p:scale>
        <p:origin x="668" y="-156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8148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1862" y="205273"/>
            <a:ext cx="6699380" cy="5197151"/>
          </a:xfrm>
        </p:spPr>
        <p:txBody>
          <a:bodyPr anchor="ctr"/>
          <a:lstStyle/>
          <a:p>
            <a:r>
              <a:rPr lang="en-US" sz="3200" dirty="0">
                <a:solidFill>
                  <a:srgbClr val="72865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Investigating Volumetric Analysis of </a:t>
            </a:r>
            <a:br>
              <a:rPr lang="en-US" sz="3200" dirty="0">
                <a:solidFill>
                  <a:srgbClr val="72865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solidFill>
                  <a:srgbClr val="72865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Constituents Of Brain Soft Tissue</a:t>
            </a:r>
            <a:br>
              <a:rPr lang="en-US" sz="3200" dirty="0">
                <a:solidFill>
                  <a:srgbClr val="72865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dirty="0">
                <a:solidFill>
                  <a:srgbClr val="72865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rgbClr val="272525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Presented by </a:t>
            </a:r>
            <a:br>
              <a:rPr lang="en-US" sz="1800" b="0" dirty="0">
                <a:solidFill>
                  <a:srgbClr val="272525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</a:br>
            <a:r>
              <a:rPr lang="en-US" sz="1800" b="0" dirty="0">
                <a:solidFill>
                  <a:srgbClr val="272525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Daniyal Ahmed Gul (BCS223030)</a:t>
            </a:r>
            <a:br>
              <a:rPr lang="en-US" sz="1800" b="0" dirty="0">
                <a:solidFill>
                  <a:srgbClr val="272525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</a:br>
            <a:r>
              <a:rPr lang="en-US" sz="1800" b="0" dirty="0">
                <a:solidFill>
                  <a:srgbClr val="272525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Muhammad Hasan Nauman (BCS223033)</a:t>
            </a:r>
            <a:br>
              <a:rPr lang="en-US" sz="1800" b="0" dirty="0">
                <a:solidFill>
                  <a:srgbClr val="272525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</a:br>
            <a:r>
              <a:rPr lang="en-US" sz="1800" b="0" dirty="0">
                <a:solidFill>
                  <a:srgbClr val="272525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Hadia Khan (BCS223216)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7CA2A8-7AB4-EFA4-5D86-2F807A4F1567}"/>
              </a:ext>
            </a:extLst>
          </p:cNvPr>
          <p:cNvSpPr txBox="1"/>
          <p:nvPr/>
        </p:nvSpPr>
        <p:spPr>
          <a:xfrm>
            <a:off x="3293806" y="5402424"/>
            <a:ext cx="6167436" cy="1348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500"/>
              </a:lnSpc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Supervisor: Dr Masroor Ahmed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2500"/>
              </a:lnSpc>
            </a:pPr>
            <a:endParaRPr lang="en-US" dirty="0">
              <a:solidFill>
                <a:schemeClr val="bg1"/>
              </a:solidFill>
              <a:latin typeface="Times New Roman" panose="02020603050405020304" pitchFamily="18" charset="0"/>
              <a:ea typeface="Source Sans 3" pitchFamily="34" charset="-122"/>
              <a:cs typeface="Times New Roman" panose="02020603050405020304" pitchFamily="18" charset="0"/>
            </a:endParaRPr>
          </a:p>
          <a:p>
            <a:pPr algn="ctr">
              <a:lnSpc>
                <a:spcPts val="2500"/>
              </a:lnSpc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Department of Computer Sciences, Capital University of Science &amp; Technology, Islamabad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378" y="265471"/>
            <a:ext cx="7285702" cy="1002890"/>
          </a:xfrm>
        </p:spPr>
        <p:txBody>
          <a:bodyPr/>
          <a:lstStyle/>
          <a:p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-Problem &amp; Significance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627" y="1366684"/>
            <a:ext cx="7594716" cy="534874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Problem: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 segmentation of brain tissues (Gray Matter, White Matter, CSF) is time-consuming, prone to human error, and computationally expensive.  </a:t>
            </a:r>
          </a:p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Significance: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Volumetric changes are key indicators for Alzheimer’s, Multiple Sclerosis, and brain tumors.  </a:t>
            </a:r>
          </a:p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Goal: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entire project is based only on 2D MRI slice analysis and  segmentation.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50995" y="0"/>
            <a:ext cx="8701548" cy="1120878"/>
          </a:xfrm>
        </p:spPr>
        <p:txBody>
          <a:bodyPr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- Proposed Methodology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D52926-08A6-EA11-7FDB-22FFEBD7867E}"/>
              </a:ext>
            </a:extLst>
          </p:cNvPr>
          <p:cNvSpPr txBox="1"/>
          <p:nvPr/>
        </p:nvSpPr>
        <p:spPr>
          <a:xfrm>
            <a:off x="847257" y="1120878"/>
            <a:ext cx="9006348" cy="5286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PIPELINE</a:t>
            </a:r>
            <a:br>
              <a:rPr lang="en-US" sz="2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Acquisition: </a:t>
            </a:r>
            <a:r>
              <a:rPr lang="en-US" sz="2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MRI brain images used in this project were obtained from the Harvard Medical School Whole Brain Atlas.</a:t>
            </a:r>
          </a:p>
          <a:p>
            <a:endParaRPr lang="en-US" sz="22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Preprocessing: </a:t>
            </a:r>
            <a:r>
              <a:rPr lang="en-US" sz="2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Resize, denoising, skull stripping, normalization, and contrast enhancement.</a:t>
            </a:r>
          </a:p>
          <a:p>
            <a:endParaRPr lang="en-US" sz="22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Extraction: </a:t>
            </a:r>
            <a:r>
              <a:rPr lang="en-US" sz="2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Texture, shape, and intensity-based feature analysis</a:t>
            </a:r>
            <a:r>
              <a:rPr lang="en-US" sz="2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2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Analysis: </a:t>
            </a:r>
            <a:r>
              <a:rPr lang="en-US" sz="2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Fuzzy C-Means (FCM) clustering for Gray Matter, White Matter, and CSF segmentation.</a:t>
            </a:r>
          </a:p>
          <a:p>
            <a:endParaRPr lang="en-US" sz="22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Output: </a:t>
            </a:r>
            <a:r>
              <a:rPr lang="en-US" sz="2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Volumetric tissue percentages, </a:t>
            </a:r>
            <a:r>
              <a:rPr lang="en-US" sz="2250">
                <a:latin typeface="Times New Roman" panose="02020603050405020304" pitchFamily="18" charset="0"/>
                <a:cs typeface="Times New Roman" panose="02020603050405020304" pitchFamily="18" charset="0"/>
              </a:rPr>
              <a:t>ROI extraction, </a:t>
            </a:r>
            <a:r>
              <a:rPr lang="en-US" sz="2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dashboard visualization.</a:t>
            </a:r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3DAF5-9F37-22F8-065D-BCEFEEDC6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494" y="127518"/>
            <a:ext cx="5723586" cy="625151"/>
          </a:xfrm>
        </p:spPr>
        <p:txBody>
          <a:bodyPr/>
          <a:lstStyle/>
          <a:p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C92D1FE-CE62-1003-1C1C-497EB200D2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080586"/>
              </p:ext>
            </p:extLst>
          </p:nvPr>
        </p:nvGraphicFramePr>
        <p:xfrm>
          <a:off x="587827" y="805685"/>
          <a:ext cx="9974424" cy="5924797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493606">
                  <a:extLst>
                    <a:ext uri="{9D8B030D-6E8A-4147-A177-3AD203B41FA5}">
                      <a16:colId xmlns:a16="http://schemas.microsoft.com/office/drawing/2014/main" val="996140648"/>
                    </a:ext>
                  </a:extLst>
                </a:gridCol>
                <a:gridCol w="4718959">
                  <a:extLst>
                    <a:ext uri="{9D8B030D-6E8A-4147-A177-3AD203B41FA5}">
                      <a16:colId xmlns:a16="http://schemas.microsoft.com/office/drawing/2014/main" val="1877024606"/>
                    </a:ext>
                  </a:extLst>
                </a:gridCol>
                <a:gridCol w="1436914">
                  <a:extLst>
                    <a:ext uri="{9D8B030D-6E8A-4147-A177-3AD203B41FA5}">
                      <a16:colId xmlns:a16="http://schemas.microsoft.com/office/drawing/2014/main" val="2210513811"/>
                    </a:ext>
                  </a:extLst>
                </a:gridCol>
                <a:gridCol w="1324945">
                  <a:extLst>
                    <a:ext uri="{9D8B030D-6E8A-4147-A177-3AD203B41FA5}">
                      <a16:colId xmlns:a16="http://schemas.microsoft.com/office/drawing/2014/main" val="8790366"/>
                    </a:ext>
                  </a:extLst>
                </a:gridCol>
              </a:tblGrid>
              <a:tr h="516761">
                <a:tc>
                  <a:txBody>
                    <a:bodyPr/>
                    <a:lstStyle/>
                    <a:p>
                      <a:r>
                        <a:rPr lang="en-US" dirty="0"/>
                        <a:t>S.no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Functional Requirements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2338910"/>
                  </a:ext>
                </a:extLst>
              </a:tr>
              <a:tr h="446858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Researcher registers and logs into the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00FF00"/>
                          </a:highlight>
                        </a:rPr>
                        <a:t>Completed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2793367"/>
                  </a:ext>
                </a:extLst>
              </a:tr>
              <a:tr h="587123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Researcher uploads MRI images to the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highlight>
                            <a:srgbClr val="00FF00"/>
                          </a:highlight>
                        </a:rPr>
                        <a:t>Completed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1634382"/>
                  </a:ext>
                </a:extLst>
              </a:tr>
              <a:tr h="587123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Automated preprocessing pipeline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highlight>
                            <a:srgbClr val="00FF00"/>
                          </a:highlight>
                        </a:rPr>
                        <a:t>Completed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6765860"/>
                  </a:ext>
                </a:extLst>
              </a:tr>
              <a:tr h="587123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System extracts texture features and shape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00FF00"/>
                          </a:highlight>
                        </a:rPr>
                        <a:t>Completed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243970"/>
                  </a:ext>
                </a:extLst>
              </a:tr>
              <a:tr h="587123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FCM Tissue Segmentation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00FF00"/>
                          </a:highlight>
                        </a:rPr>
                        <a:t>Completed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3099342"/>
                  </a:ext>
                </a:extLst>
              </a:tr>
              <a:tr h="16978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White Matter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highlight>
                            <a:srgbClr val="00FF00"/>
                          </a:highlight>
                        </a:rPr>
                        <a:t>Completed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1212717"/>
                  </a:ext>
                </a:extLst>
              </a:tr>
              <a:tr h="587123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Gray Matter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Core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highlight>
                            <a:srgbClr val="00FF00"/>
                          </a:highlight>
                        </a:rPr>
                        <a:t>Completed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0923945"/>
                  </a:ext>
                </a:extLst>
              </a:tr>
              <a:tr h="446858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CSF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00FF00"/>
                          </a:highlight>
                        </a:rPr>
                        <a:t>Completed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147792"/>
                  </a:ext>
                </a:extLst>
              </a:tr>
              <a:tr h="673840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ROI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Core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highlight>
                            <a:srgbClr val="00FF00"/>
                          </a:highlight>
                        </a:rPr>
                        <a:t>Completed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24249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8993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B9F76-5AC5-461C-AFEF-7BBF0C551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883FB-AC6A-6D97-A73B-5FEE7BD76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494" y="127518"/>
            <a:ext cx="7814506" cy="625151"/>
          </a:xfrm>
        </p:spPr>
        <p:txBody>
          <a:bodyPr/>
          <a:lstStyle/>
          <a:p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Non-Functional requirements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3E056C2-A82E-58E6-DBC4-2DDA3D264F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0183042"/>
              </p:ext>
            </p:extLst>
          </p:nvPr>
        </p:nvGraphicFramePr>
        <p:xfrm>
          <a:off x="587827" y="805685"/>
          <a:ext cx="8537510" cy="469818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493606">
                  <a:extLst>
                    <a:ext uri="{9D8B030D-6E8A-4147-A177-3AD203B41FA5}">
                      <a16:colId xmlns:a16="http://schemas.microsoft.com/office/drawing/2014/main" val="996140648"/>
                    </a:ext>
                  </a:extLst>
                </a:gridCol>
                <a:gridCol w="4718959">
                  <a:extLst>
                    <a:ext uri="{9D8B030D-6E8A-4147-A177-3AD203B41FA5}">
                      <a16:colId xmlns:a16="http://schemas.microsoft.com/office/drawing/2014/main" val="1877024606"/>
                    </a:ext>
                  </a:extLst>
                </a:gridCol>
                <a:gridCol w="1324945">
                  <a:extLst>
                    <a:ext uri="{9D8B030D-6E8A-4147-A177-3AD203B41FA5}">
                      <a16:colId xmlns:a16="http://schemas.microsoft.com/office/drawing/2014/main" val="8790366"/>
                    </a:ext>
                  </a:extLst>
                </a:gridCol>
              </a:tblGrid>
              <a:tr h="516761">
                <a:tc>
                  <a:txBody>
                    <a:bodyPr/>
                    <a:lstStyle/>
                    <a:p>
                      <a:r>
                        <a:rPr lang="en-US" dirty="0"/>
                        <a:t>S.no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Non-Functional Requirements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2338910"/>
                  </a:ext>
                </a:extLst>
              </a:tr>
              <a:tr h="446858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00FF00"/>
                          </a:highlight>
                        </a:rPr>
                        <a:t>Completed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2793367"/>
                  </a:ext>
                </a:extLst>
              </a:tr>
              <a:tr h="587123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highlight>
                            <a:srgbClr val="00FF00"/>
                          </a:highlight>
                        </a:rPr>
                        <a:t>Completed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1634382"/>
                  </a:ext>
                </a:extLst>
              </a:tr>
              <a:tr h="587123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highlight>
                            <a:srgbClr val="00FF00"/>
                          </a:highlight>
                        </a:rPr>
                        <a:t>Completed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6765860"/>
                  </a:ext>
                </a:extLst>
              </a:tr>
              <a:tr h="587123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Scalability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00FF00"/>
                          </a:highlight>
                        </a:rPr>
                        <a:t>Completed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243970"/>
                  </a:ext>
                </a:extLst>
              </a:tr>
              <a:tr h="587123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Portability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00FF00"/>
                          </a:highlight>
                        </a:rPr>
                        <a:t>Completed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3099342"/>
                  </a:ext>
                </a:extLst>
              </a:tr>
              <a:tr h="16978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Database 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highlight>
                            <a:srgbClr val="00FF00"/>
                          </a:highlight>
                        </a:rPr>
                        <a:t>Completed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1212717"/>
                  </a:ext>
                </a:extLst>
              </a:tr>
              <a:tr h="587123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Visualization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highlight>
                            <a:srgbClr val="00FF00"/>
                          </a:highlight>
                        </a:rPr>
                        <a:t>Completed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09239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927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4554" y="127902"/>
            <a:ext cx="6782892" cy="722672"/>
          </a:xfrm>
        </p:spPr>
        <p:txBody>
          <a:bodyPr/>
          <a:lstStyle/>
          <a:p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- LANDING PAGE</a:t>
            </a:r>
          </a:p>
        </p:txBody>
      </p:sp>
      <p:sp>
        <p:nvSpPr>
          <p:cNvPr id="4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48301" y="4119716"/>
            <a:ext cx="8789987" cy="22810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entry points for researchers and new users.</a:t>
            </a:r>
          </a:p>
          <a:p>
            <a:pPr marL="0" indent="0">
              <a:buNone/>
            </a:pP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Highlights platform capabilities: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Preprocessing, Volumetrics, and Classification. </a:t>
            </a:r>
          </a:p>
        </p:txBody>
      </p:sp>
      <p:sp>
        <p:nvSpPr>
          <p:cNvPr id="3" name="Slide Number Placeholder 22">
            <a:extLst>
              <a:ext uri="{FF2B5EF4-FFF2-40B4-BE49-F238E27FC236}">
                <a16:creationId xmlns:a16="http://schemas.microsoft.com/office/drawing/2014/main" id="{05ACDA5F-5121-3901-DB9A-7DD607843241}"/>
              </a:ext>
            </a:extLst>
          </p:cNvPr>
          <p:cNvSpPr txBox="1">
            <a:spLocks/>
          </p:cNvSpPr>
          <p:nvPr/>
        </p:nvSpPr>
        <p:spPr>
          <a:xfrm>
            <a:off x="2885015" y="2039491"/>
            <a:ext cx="8789987" cy="2281084"/>
          </a:xfrm>
          <a:prstGeom prst="rect">
            <a:avLst/>
          </a:prstGeom>
        </p:spPr>
        <p:txBody>
          <a:bodyPr vert="horz" lIns="91440" tIns="0" rIns="91440" bIns="0" rtlCol="0">
            <a:normAutofit/>
          </a:bodyPr>
          <a:lstStyle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AF82F4-4F1E-E5B6-3F93-86C360C022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301" y="1100047"/>
            <a:ext cx="6591120" cy="2753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036" y="145165"/>
            <a:ext cx="7668458" cy="617467"/>
          </a:xfrm>
        </p:spPr>
        <p:txBody>
          <a:bodyPr/>
          <a:lstStyle/>
          <a:p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- DASHBOARD &amp; AUTH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967562" y="4254700"/>
            <a:ext cx="7043618" cy="2309385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Functionality</a:t>
            </a:r>
          </a:p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 authentication</a:t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provides "Quick Actions" for uploading images and generating reports.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 of total analyses and success rates.</a:t>
            </a: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dynamically displays GM, WM, CSF volumetric percentages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145B0E4-E779-9B8D-2D26-05CCC31767E4}"/>
              </a:ext>
            </a:extLst>
          </p:cNvPr>
          <p:cNvSpPr txBox="1">
            <a:spLocks/>
          </p:cNvSpPr>
          <p:nvPr/>
        </p:nvSpPr>
        <p:spPr>
          <a:xfrm>
            <a:off x="3581036" y="1097000"/>
            <a:ext cx="7043618" cy="2037384"/>
          </a:xfrm>
          <a:prstGeom prst="rect">
            <a:avLst/>
          </a:prstGeom>
        </p:spPr>
        <p:txBody>
          <a:bodyPr vert="horz" lIns="91440" tIns="0" rIns="9144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8B37D0-282C-4273-EFBC-250256C78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7562" y="933715"/>
            <a:ext cx="7281932" cy="3075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BEFE2-5F1A-9DAC-4490-C99857156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2809" y="-58375"/>
            <a:ext cx="7424420" cy="1487434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USER INTERFACE –ADMIN PANEL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499D9A-5884-3EE1-A8DC-6A2928C0FC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80B801-9C5E-1DC1-6A0A-906EDDB86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809" y="1563633"/>
            <a:ext cx="7957820" cy="2886946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3DFB9161-E834-20E4-61DB-238AA2D89C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4429" y="4988117"/>
            <a:ext cx="571085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Admin can manage registered users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View researcher information and registration details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Delete inactive or invalid accounts </a:t>
            </a:r>
          </a:p>
        </p:txBody>
      </p:sp>
    </p:spTree>
    <p:extLst>
      <p:ext uri="{BB962C8B-B14F-4D97-AF65-F5344CB8AC3E}">
        <p14:creationId xmlns:p14="http://schemas.microsoft.com/office/powerpoint/2010/main" val="21056070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4" y="678426"/>
            <a:ext cx="9875463" cy="609600"/>
          </a:xfrm>
        </p:spPr>
        <p:txBody>
          <a:bodyPr/>
          <a:lstStyle/>
          <a:p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Test Cases (Authentication &amp; Upload)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087A61C-6A44-A2BC-F106-B97C1B046E8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21491432"/>
              </p:ext>
            </p:extLst>
          </p:nvPr>
        </p:nvGraphicFramePr>
        <p:xfrm>
          <a:off x="1550987" y="2303462"/>
          <a:ext cx="9687284" cy="428571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421821">
                  <a:extLst>
                    <a:ext uri="{9D8B030D-6E8A-4147-A177-3AD203B41FA5}">
                      <a16:colId xmlns:a16="http://schemas.microsoft.com/office/drawing/2014/main" val="870081349"/>
                    </a:ext>
                  </a:extLst>
                </a:gridCol>
                <a:gridCol w="2762289">
                  <a:extLst>
                    <a:ext uri="{9D8B030D-6E8A-4147-A177-3AD203B41FA5}">
                      <a16:colId xmlns:a16="http://schemas.microsoft.com/office/drawing/2014/main" val="3777413483"/>
                    </a:ext>
                  </a:extLst>
                </a:gridCol>
                <a:gridCol w="2081353">
                  <a:extLst>
                    <a:ext uri="{9D8B030D-6E8A-4147-A177-3AD203B41FA5}">
                      <a16:colId xmlns:a16="http://schemas.microsoft.com/office/drawing/2014/main" val="307489930"/>
                    </a:ext>
                  </a:extLst>
                </a:gridCol>
                <a:gridCol w="2421821">
                  <a:extLst>
                    <a:ext uri="{9D8B030D-6E8A-4147-A177-3AD203B41FA5}">
                      <a16:colId xmlns:a16="http://schemas.microsoft.com/office/drawing/2014/main" val="1889085704"/>
                    </a:ext>
                  </a:extLst>
                </a:gridCol>
              </a:tblGrid>
              <a:tr h="659948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8712951"/>
                  </a:ext>
                </a:extLst>
              </a:tr>
              <a:tr h="659948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Verify Sign-in 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Valid Credentials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Pass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6314746"/>
                  </a:ext>
                </a:extLst>
              </a:tr>
              <a:tr h="659948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Invalid Login Handling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Wrong Password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Pass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819931"/>
                  </a:ext>
                </a:extLst>
              </a:tr>
              <a:tr h="659948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MRI Image Upload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png</a:t>
                      </a:r>
                      <a:r>
                        <a:rPr lang="en-US" sz="2400" dirty="0"/>
                        <a:t> / .jpg file 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Pass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0870942"/>
                  </a:ext>
                </a:extLst>
              </a:tr>
              <a:tr h="659948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Invalid File Format 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.pdf file 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Pass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9390810"/>
                  </a:ext>
                </a:extLst>
              </a:tr>
              <a:tr h="659948">
                <a:tc>
                  <a:txBody>
                    <a:bodyPr/>
                    <a:lstStyle/>
                    <a:p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80213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0A324-0737-F0DA-1F7D-10CBE06D7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66916"/>
            <a:ext cx="10511627" cy="629265"/>
          </a:xfrm>
        </p:spPr>
        <p:txBody>
          <a:bodyPr/>
          <a:lstStyle/>
          <a:p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Test Cases (Preprocessing &amp; UI)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5B6B55BF-4B2D-944A-4F6D-799DA61E0936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3031489779"/>
              </p:ext>
            </p:extLst>
          </p:nvPr>
        </p:nvGraphicFramePr>
        <p:xfrm>
          <a:off x="914400" y="1818857"/>
          <a:ext cx="10510836" cy="478698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177143">
                  <a:extLst>
                    <a:ext uri="{9D8B030D-6E8A-4147-A177-3AD203B41FA5}">
                      <a16:colId xmlns:a16="http://schemas.microsoft.com/office/drawing/2014/main" val="3137136895"/>
                    </a:ext>
                  </a:extLst>
                </a:gridCol>
                <a:gridCol w="3078275">
                  <a:extLst>
                    <a:ext uri="{9D8B030D-6E8A-4147-A177-3AD203B41FA5}">
                      <a16:colId xmlns:a16="http://schemas.microsoft.com/office/drawing/2014/main" val="4073874209"/>
                    </a:ext>
                  </a:extLst>
                </a:gridCol>
                <a:gridCol w="2627709">
                  <a:extLst>
                    <a:ext uri="{9D8B030D-6E8A-4147-A177-3AD203B41FA5}">
                      <a16:colId xmlns:a16="http://schemas.microsoft.com/office/drawing/2014/main" val="628117527"/>
                    </a:ext>
                  </a:extLst>
                </a:gridCol>
                <a:gridCol w="2627709">
                  <a:extLst>
                    <a:ext uri="{9D8B030D-6E8A-4147-A177-3AD203B41FA5}">
                      <a16:colId xmlns:a16="http://schemas.microsoft.com/office/drawing/2014/main" val="3118137114"/>
                    </a:ext>
                  </a:extLst>
                </a:gridCol>
              </a:tblGrid>
              <a:tr h="797830">
                <a:tc>
                  <a:txBody>
                    <a:bodyPr/>
                    <a:lstStyle/>
                    <a:p>
                      <a:r>
                        <a:rPr lang="en-US" dirty="0"/>
                        <a:t>Test ID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Objective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Expected 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237611"/>
                  </a:ext>
                </a:extLst>
              </a:tr>
              <a:tr h="797830">
                <a:tc>
                  <a:txBody>
                    <a:bodyPr/>
                    <a:lstStyle/>
                    <a:p>
                      <a:r>
                        <a:rPr lang="en-US" dirty="0"/>
                        <a:t>TC-05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Preprocessing Execution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Resized, denoised, and skull-stripped 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152386"/>
                  </a:ext>
                </a:extLst>
              </a:tr>
              <a:tr h="797830">
                <a:tc>
                  <a:txBody>
                    <a:bodyPr/>
                    <a:lstStyle/>
                    <a:p>
                      <a:r>
                        <a:rPr lang="en-US" dirty="0"/>
                        <a:t>TC-06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Output Visualization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Display processed data on UI without distortion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5288076"/>
                  </a:ext>
                </a:extLst>
              </a:tr>
              <a:tr h="797830">
                <a:tc>
                  <a:txBody>
                    <a:bodyPr/>
                    <a:lstStyle/>
                    <a:p>
                      <a:r>
                        <a:rPr lang="en-US" dirty="0"/>
                        <a:t>TC-07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FCM Tissue Segmentation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GM/WM/CSF masks generated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584085"/>
                  </a:ext>
                </a:extLst>
              </a:tr>
              <a:tr h="7978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TC-08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ROI Extraction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Suspicious region detected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3704718"/>
                  </a:ext>
                </a:extLst>
              </a:tr>
              <a:tr h="797830">
                <a:tc>
                  <a:txBody>
                    <a:bodyPr/>
                    <a:lstStyle/>
                    <a:p>
                      <a:r>
                        <a:rPr lang="en-US" dirty="0"/>
                        <a:t>TC-09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Volumetric Ratio Calculation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Tissue percentages displayed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13021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62132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806" y="344129"/>
            <a:ext cx="8465057" cy="658761"/>
          </a:xfrm>
        </p:spPr>
        <p:txBody>
          <a:bodyPr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- MRI UPLOAD MODULE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18DECA3-D354-910E-EFAE-5FE0BAF9E5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7824" y="4509846"/>
            <a:ext cx="7934632" cy="2047568"/>
          </a:xfrm>
        </p:spPr>
        <p:txBody>
          <a:bodyPr>
            <a:normAutofit fontScale="85000" lnSpcReduction="20000"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Link MRI images to specific patient records.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Supports multiple formats: JPG, PNG, DICOM, and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NIfTI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Backend processes images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Uploaded MRI scans are automatically passed through preprocessing and FCM tissue analysis pipeline.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70185F6C-F752-B1C4-7668-4CA4DF2CB9EA}"/>
              </a:ext>
            </a:extLst>
          </p:cNvPr>
          <p:cNvSpPr txBox="1">
            <a:spLocks/>
          </p:cNvSpPr>
          <p:nvPr/>
        </p:nvSpPr>
        <p:spPr>
          <a:xfrm>
            <a:off x="595554" y="1611085"/>
            <a:ext cx="7934632" cy="2047568"/>
          </a:xfrm>
          <a:prstGeom prst="rect">
            <a:avLst/>
          </a:prstGeom>
        </p:spPr>
        <p:txBody>
          <a:bodyPr vert="horz" lIns="91440" tIns="0" rIns="9144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3862F0-8337-650A-C948-E0C0502404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57" y="1445536"/>
            <a:ext cx="5736771" cy="26387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BA1A8CE-C970-1E83-0304-6858997023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2441" y="1445536"/>
            <a:ext cx="5800702" cy="2628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49168" y="264229"/>
            <a:ext cx="9836712" cy="817870"/>
          </a:xfrm>
        </p:spPr>
        <p:txBody>
          <a:bodyPr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Backend MRI Processing &amp; Tissue Segmentation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58AC0C8B-8A7A-9FAE-2D0F-4D1C3A8C3F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" y="1489900"/>
            <a:ext cx="6984175" cy="2715626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fixed sequence of steps implemented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MRI image resizing and grayscale conversion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Denoising and skull stripping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Histogram equalization for contrast enhancement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FCM clustering for tissue separation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Gray Matter (GM), White Matter (WM) segmentation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CSF extraction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Morphological refinement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ROI (Region of Interest) detection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brain tissue analysis pipeline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98DAE1-56C1-AF97-2871-6448909F8F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573"/>
          <a:stretch>
            <a:fillRect/>
          </a:stretch>
        </p:blipFill>
        <p:spPr>
          <a:xfrm>
            <a:off x="5617029" y="1097156"/>
            <a:ext cx="5986807" cy="4270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569" y="272412"/>
            <a:ext cx="8384611" cy="656908"/>
          </a:xfrm>
        </p:spPr>
        <p:txBody>
          <a:bodyPr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MRI Processing &amp; Segmentation </a:t>
            </a:r>
            <a:r>
              <a:rPr lang="en-US" sz="2800" dirty="0" err="1">
                <a:solidFill>
                  <a:schemeClr val="tx1"/>
                </a:solidFill>
              </a:rPr>
              <a:t>ResultS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55D3D-AA24-CF53-6679-29B3C83F764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062375" y="3472543"/>
            <a:ext cx="6903076" cy="3178494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</a:t>
            </a:r>
            <a:b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C8F5868-FCAF-47F2-D528-79C5F2E51A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2375" y="3671072"/>
            <a:ext cx="1970411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MRI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rocessed MRI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GM mask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WM mask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CSF mask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ROI detection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076F15F-5A47-F0D4-9CE3-C15154EA9A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573"/>
          <a:stretch>
            <a:fillRect/>
          </a:stretch>
        </p:blipFill>
        <p:spPr>
          <a:xfrm>
            <a:off x="195944" y="1121513"/>
            <a:ext cx="6421265" cy="4580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A320B-AB34-5AB8-7443-03BBCE057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186" y="273501"/>
            <a:ext cx="10511627" cy="1012785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FCM Tissue Segmentation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E1D344B-9916-5616-33C8-F957D75F4798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546272" y="1286286"/>
            <a:ext cx="7741918" cy="394811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9A837C-EACD-24A5-1EA2-0D7ED279AE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71C2A4-1458-5AAB-B0DB-65FFD9AFBB2E}"/>
              </a:ext>
            </a:extLst>
          </p:cNvPr>
          <p:cNvSpPr txBox="1"/>
          <p:nvPr/>
        </p:nvSpPr>
        <p:spPr>
          <a:xfrm>
            <a:off x="931015" y="5381499"/>
            <a:ext cx="611204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• FCM clustering applied on MRI images</a:t>
            </a:r>
          </a:p>
          <a:p>
            <a:r>
              <a:rPr lang="en-US" dirty="0"/>
              <a:t>• Tissue regions segmented using intensity analysis</a:t>
            </a:r>
          </a:p>
          <a:p>
            <a:r>
              <a:rPr lang="en-US" dirty="0"/>
              <a:t>• Morphological filtering used for mask refinement</a:t>
            </a:r>
          </a:p>
          <a:p>
            <a:r>
              <a:rPr lang="en-US" dirty="0"/>
              <a:t>• Volumetric percentages calculated dynamically</a:t>
            </a:r>
          </a:p>
        </p:txBody>
      </p:sp>
    </p:spTree>
    <p:extLst>
      <p:ext uri="{BB962C8B-B14F-4D97-AF65-F5344CB8AC3E}">
        <p14:creationId xmlns:p14="http://schemas.microsoft.com/office/powerpoint/2010/main" val="29599834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6B2EC-3645-0161-414A-BDF8B4501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032" y="788712"/>
            <a:ext cx="10511627" cy="1012785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ROI Detection &amp; Analysis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233469F-C1D0-CBB1-A115-39EDFB390E27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rcRect r="24435"/>
          <a:stretch>
            <a:fillRect/>
          </a:stretch>
        </p:blipFill>
        <p:spPr>
          <a:xfrm>
            <a:off x="528989" y="1424185"/>
            <a:ext cx="5442857" cy="340987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815CE3-43CF-67D9-5A0A-85D425D342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EA11FC-4985-2455-2543-93542497EF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9760"/>
          <a:stretch>
            <a:fillRect/>
          </a:stretch>
        </p:blipFill>
        <p:spPr>
          <a:xfrm>
            <a:off x="5416212" y="1470298"/>
            <a:ext cx="6246799" cy="331764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E9BBC5E-8AD0-3E13-D21A-12547DD4F464}"/>
              </a:ext>
            </a:extLst>
          </p:cNvPr>
          <p:cNvSpPr txBox="1"/>
          <p:nvPr/>
        </p:nvSpPr>
        <p:spPr>
          <a:xfrm>
            <a:off x="1097166" y="5200472"/>
            <a:ext cx="78291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• Suspicious abnormal regions detected using morphology and connected component analysis</a:t>
            </a:r>
          </a:p>
          <a:p>
            <a:r>
              <a:rPr lang="en-US" dirty="0"/>
              <a:t>• ROI extracted from original MRI</a:t>
            </a:r>
          </a:p>
          <a:p>
            <a:r>
              <a:rPr lang="en-US" dirty="0"/>
              <a:t>• Tumor area and affected percentage estimated</a:t>
            </a:r>
          </a:p>
        </p:txBody>
      </p:sp>
    </p:spTree>
    <p:extLst>
      <p:ext uri="{BB962C8B-B14F-4D97-AF65-F5344CB8AC3E}">
        <p14:creationId xmlns:p14="http://schemas.microsoft.com/office/powerpoint/2010/main" val="5116421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{C7D20A79-9860-4015-A8ED-4101D417CC2E}TF8a9b5915-b8c7-461e-8cdd-693d48b5e32371f7b7e2_win32-4bf0b9a2ea37</Template>
  <TotalTime>2919</TotalTime>
  <Words>709</Words>
  <Application>Microsoft Office PowerPoint</Application>
  <PresentationFormat>Widescreen</PresentationFormat>
  <Paragraphs>190</Paragraphs>
  <Slides>16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Arial Black</vt:lpstr>
      <vt:lpstr>Calibri</vt:lpstr>
      <vt:lpstr>Sabon Next LT</vt:lpstr>
      <vt:lpstr>Times New Roman</vt:lpstr>
      <vt:lpstr>Custom</vt:lpstr>
      <vt:lpstr>Investigating Volumetric Analysis of  Constituents Of Brain Soft Tissue  Presented by  Daniyal Ahmed Gul (BCS223030) Muhammad Hasan Nauman (BCS223033) Hadia Khan (BCS223216) </vt:lpstr>
      <vt:lpstr>Introduction -Problem &amp; Significance</vt:lpstr>
      <vt:lpstr>Introduction - Proposed Methodology</vt:lpstr>
      <vt:lpstr>Functional requirements</vt:lpstr>
      <vt:lpstr>Non-Functional requirements</vt:lpstr>
      <vt:lpstr>USER INTERFACE - LANDING PAGE</vt:lpstr>
      <vt:lpstr>USER INTERFACE - DASHBOARD &amp; AUTH</vt:lpstr>
      <vt:lpstr>USER INTERFACE –ADMIN PANEL</vt:lpstr>
      <vt:lpstr>Key Test Cases (Authentication &amp; Upload)</vt:lpstr>
      <vt:lpstr>Key Test Cases (Preprocessing &amp; UI)</vt:lpstr>
      <vt:lpstr>USER INTERFACE - MRI UPLOAD MODULE</vt:lpstr>
      <vt:lpstr>Backend MRI Processing &amp; Tissue Segmentation</vt:lpstr>
      <vt:lpstr>MRI Processing &amp; Segmentation ResultS</vt:lpstr>
      <vt:lpstr>FCM Tissue Segmentation</vt:lpstr>
      <vt:lpstr>ROI Detection &amp; Analysis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Hadia Khan</dc:creator>
  <cp:lastModifiedBy>BCS223030-DANIYAL AHMED GUL</cp:lastModifiedBy>
  <cp:revision>35</cp:revision>
  <dcterms:created xsi:type="dcterms:W3CDTF">2026-02-15T07:46:44Z</dcterms:created>
  <dcterms:modified xsi:type="dcterms:W3CDTF">2026-05-14T05:01:12Z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